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9" r:id="rId4"/>
    <p:sldId id="260" r:id="rId5"/>
    <p:sldId id="262" r:id="rId6"/>
    <p:sldId id="263" r:id="rId7"/>
    <p:sldId id="264" r:id="rId8"/>
    <p:sldId id="274" r:id="rId9"/>
    <p:sldId id="275" r:id="rId10"/>
    <p:sldId id="278" r:id="rId11"/>
    <p:sldId id="265" r:id="rId12"/>
    <p:sldId id="277" r:id="rId13"/>
    <p:sldId id="266" r:id="rId14"/>
    <p:sldId id="259" r:id="rId15"/>
    <p:sldId id="258" r:id="rId16"/>
    <p:sldId id="267" r:id="rId17"/>
    <p:sldId id="268" r:id="rId18"/>
    <p:sldId id="269" r:id="rId19"/>
    <p:sldId id="270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7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0.5 min - Welcome. State the format up front: 30 minutes total, the last 10 are a live demo on a real Wrike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0.5 min - Walk the agenda in one breath. Flag that item 5 is where the 10-minute live demo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 min - Level-set for anyone new to Claude Code: it's agentic (reads, acts, observes, repeats), not a chatbox. Three guardrails: finite context, asks permission by default, can still be wrong — so a human checkpoint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Five surfaces that customize Claude Code to a team: CLAUDE.md, Skills, Subagents, MCP servers, Hooks. Today's demo uses the three in teal.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 min - CLAUDE.md is the single file every skill/subagent reads first — conventions, structure, security, review rules, encoded once instead of repeated in every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A Skill is a folder of instructions Claude auto-triggers on a matching task — no command to remember, versioned in the repo like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A Subagent is a separate Claude instance with its own context, used to keep noisy work (browser logs, screenshots) out of the main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How they combine in ship-ticket: commit happens right at the human 'yes' checkpoint; verification and the write-up run automatically after, in a subagent.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 min - ship-ticket is the fix: one skill that owns the whole tail after implementation. Cover why, where it applies, and preview the 4 automated steps — diff/commit gate is the only human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 min - The problem, from my own week: read the ticket, brief the AI on the codebase, verify in browser, screenshot/Jam a video, then write the PR body AND the Wrike comment separately. None of that is coding — it's the tail after the code already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1.5 min - Walk the real 4 steps: ingest (paste-only), implement (reads CLAUDE.md + git history, asks only if genuinely ambiguous), review gate (exactly two choices), automated verification +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This is the literal SKILL.md from the repo — point out the auto-trigger description, the rules fallback chain, and the hard constraint against fabricating a 'verified'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verify-and-summarize is scoped narrow on purpose: no file-editing tools. It drives Playwright MCP for the real browser check every time; Jam is optional and only used for video when requested and connected. It reports PASS / FAIL / UNCERTAIN, never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min - LIVE DEMO. Paste a real ticket from Wrike. Let Claude read CLAUDE.md + git history and implement. Show the diff review gate, approve, watch it commit. Let verify-and-summarize drive the browser, publish the artifact, and paste the Wrike-ready summary back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min - What's next: richer Jam integration, packaging as a team plugin, hooks for hard guardrails, extending the same pattern beyond UI tickets to backend/API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0.5 min - Close: invite the team to try it on their next ticket, the files are ready to share.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thropics/skill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Subagents &amp; CLAUDE.md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delivery. Consistent code. Less rework after release.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Claude Code fundamentals to a working skill in our own repo — 30 min total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7282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deck, and what's ahead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054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hidden powers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834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Skills, Subagents, and MCP servers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11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repetitive work costs, and what it solves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6995160" y="17282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ship-ticket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 and what it can 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995160" y="25054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834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ticket, start to finish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6995160" y="32826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3611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team takes this from 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73968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57348" y="443484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everything this session covers.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fundamentals → CLAUDE.md, Skills, Subagents, and MCP servers → the skill we built with them, ship-ticket → a live demo → what's next.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Claude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coding tool, not a chatbox. It reads your codebase, edits files, runs commands, and works toward a goal you give it — inside your existing dev tools. Every real task follows the same rhythm: explore, plan, code, commit.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47472" cy="347472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88" dirty="0"/>
          </a:p>
        </p:txBody>
      </p:sp>
      <p:sp>
        <p:nvSpPr>
          <p:cNvPr id="6" name="Text 4"/>
          <p:cNvSpPr/>
          <p:nvPr/>
        </p:nvSpPr>
        <p:spPr>
          <a:xfrm>
            <a:off x="1170432" y="280720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finite — what Claude can see shapes what it can 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93592"/>
            <a:ext cx="347472" cy="347472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88" dirty="0"/>
          </a:p>
        </p:txBody>
      </p:sp>
      <p:sp>
        <p:nvSpPr>
          <p:cNvPr id="9" name="Text 7"/>
          <p:cNvSpPr/>
          <p:nvPr/>
        </p:nvSpPr>
        <p:spPr>
          <a:xfrm>
            <a:off x="1170432" y="3520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 for permission by default before acting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06824"/>
            <a:ext cx="347472" cy="347472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306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88" dirty="0"/>
          </a:p>
        </p:txBody>
      </p:sp>
      <p:sp>
        <p:nvSpPr>
          <p:cNvPr id="12" name="Text 10"/>
          <p:cNvSpPr/>
          <p:nvPr/>
        </p:nvSpPr>
        <p:spPr>
          <a:xfrm>
            <a:off x="1170432" y="4233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make mistakes — staying in the loop isn't optional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18288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65008" y="2263140"/>
            <a:ext cx="237744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4464" y="18288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93808" y="2263140"/>
            <a:ext cx="237744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49840" y="182880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13264" y="1828800"/>
            <a:ext cx="16276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repeats until the goal is met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38404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384048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answers a question.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reads, edits, runs, and reports back.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hidden powers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 Claude Code is general-purpose — these four surfaces are what tune it to how your team actually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2240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9718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conventions Claude remembers across sessions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72384" y="2240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72384" y="29718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instructions for tasks you repeat often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96596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2240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58384" y="29718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delegates that keep noisy work out of the main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965960"/>
            <a:ext cx="2084832" cy="3840480"/>
          </a:xfrm>
          <a:prstGeom prst="roundRect">
            <a:avLst>
              <a:gd name="adj" fmla="val 4386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44384" y="2240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44384" y="29718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Claude to real tools outside the model — a browser, a database, your own systems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are what everything in this deck is built from.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CLAUDE.md: your rules, encoded once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 in the repo where your team's conventions live: naming, structure, formatting, security rules, review standards. Every skill and subagent reads it before writing a line of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1887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328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follows the same style, whoever wrote 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188720" y="3813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105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review rules are applied before code ships, not caught after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18872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8828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enforced at write-time mean fewer review cycles and fixes after delivery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applies at a personal level (~/.claude/CLAUDE.md) for how you like to work across every project — project-level CLAUDE.md always wins for repo-specific rules.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5029200" cy="3758540"/>
          </a:xfrm>
          <a:prstGeom prst="roundRect">
            <a:avLst>
              <a:gd name="adj" fmla="val 1538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4572000" cy="3110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Code style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- 2-space indent, no semicolons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Component names: PascalCase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Structure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Feature folders, not type folders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business logic in views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Compliance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secrets or keys in source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API call wrapped in error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handling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 existing naming in the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 before adding new terms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Claude Skill?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instructions that teaches Claude how to handle one specific kind of task. Claude reads its description and auto-triggers it when it recognizes a matching task. It costs nothing in context until that moment — a skill's instructions load only when triggered, keeping every other conversation lean.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on matching tasks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9" name="Text 7"/>
          <p:cNvSpPr/>
          <p:nvPr/>
        </p:nvSpPr>
        <p:spPr>
          <a:xfrm>
            <a:off x="1143000" y="36210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repo, versionable like 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70248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1143000" y="4224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subagents for isolated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→ Task Match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37744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64224" y="2377440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27848" y="2880360"/>
            <a:ext cx="25603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02168" y="237744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65592" y="2377440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29216" y="2880360"/>
            <a:ext cx="25603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03536" y="2377440"/>
            <a:ext cx="150876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66960" y="2377440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marketplace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build every skill yourself — discover and install ones the community (and Anthropic) already built, the same way you'd add a package.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1887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by default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328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Anthropic marketplace is available by default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188720" y="3813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105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community marketplaces from a GitHub repo, Git URL, or local 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18872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8828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can bundle skills plus hooks and MCP configs — install once, get everything inside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are the distribution format, skills are the content — you install plugins, but you use skills.</a:t>
            </a:r>
            <a:r>
              <a:rPr sz="1150" dirty="0">
                <a:solidFill>
                  <a:srgbClr val="6B7280"/>
                </a:solidFill>
                <a:latin typeface="Calibri"/>
              </a:rPr>
              <a:t>  Explore </a:t>
            </a:r>
            <a:r>
              <a:rPr sz="1150" dirty="0" err="1">
                <a:solidFill>
                  <a:srgbClr val="6B7280"/>
                </a:solidFill>
                <a:latin typeface="Calibri"/>
              </a:rPr>
              <a:t>Anthropic's</a:t>
            </a:r>
            <a:r>
              <a:rPr sz="1150" dirty="0">
                <a:solidFill>
                  <a:srgbClr val="6B7280"/>
                </a:solidFill>
                <a:latin typeface="Calibri"/>
              </a:rPr>
              <a:t> + community skills: </a:t>
            </a:r>
            <a:r>
              <a:rPr sz="1150" b="1" dirty="0">
                <a:solidFill>
                  <a:srgbClr val="35C6C1"/>
                </a:solidFill>
                <a:latin typeface="Calibri"/>
                <a:hlinkClick r:id="rId2"/>
              </a:rPr>
              <a:t>github.com/</a:t>
            </a:r>
            <a:r>
              <a:rPr sz="1150" b="1" dirty="0" err="1">
                <a:solidFill>
                  <a:srgbClr val="35C6C1"/>
                </a:solidFill>
                <a:latin typeface="Calibri"/>
                <a:hlinkClick r:id="rId2"/>
              </a:rPr>
              <a:t>anthropics</a:t>
            </a:r>
            <a:r>
              <a:rPr sz="1150" b="1" dirty="0">
                <a:solidFill>
                  <a:srgbClr val="35C6C1"/>
                </a:solidFill>
                <a:latin typeface="Calibri"/>
                <a:hlinkClick r:id="rId2"/>
              </a:rPr>
              <a:t>/skills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45720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this in the Claude Code</a:t>
            </a:r>
            <a:endParaRPr lang="en-US" sz="1050" dirty="0"/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chat itself — terminal or IDE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extension, not your OS shell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/plugin marketplace add &lt;url&gt;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registers a new marketplace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/plugin install &lt;plugin-name&gt;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installs it into this project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/plugin list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shows what's installed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own skill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we did tonight for ship-ticket — a skill is just a folder with one file Claude reads.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11887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328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file: .claude/skills/&lt;name&gt;/SKILL.md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188720" y="38130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105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frontmatter description is what auto-triggers it — write it like a trigger condition, not a summary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18872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instructions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8828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is plain instructions — steps, constraints, what to never fabricate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registration, no build step — save the file and it's live for every session in this project.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1600200"/>
            <a:ext cx="45720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ship-ticket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Trigger on the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paste alone — no extra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phrasing required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1 — Ingest the ticket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2 — Implement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3 — Browser review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4 — Packaging</a:t>
            </a:r>
          </a:p>
          <a:p>
            <a:endParaRPr lang="en-US" sz="1050" dirty="0">
              <a:solidFill>
                <a:srgbClr val="CADC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fabricate a screenshot,</a:t>
            </a:r>
          </a:p>
          <a:p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PR, or a “verified” claim.</a:t>
            </a:r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vs. SKILL.md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that look similar and do very different jobs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LOADS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session, automatically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35708" y="3749040"/>
            <a:ext cx="329184" cy="320040"/>
          </a:xfrm>
          <a:prstGeom prst="down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a matching task is detected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Whole-project conventions and rules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67628" y="3749040"/>
            <a:ext cx="329184" cy="320040"/>
          </a:xfrm>
          <a:prstGeom prst="down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4206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specific, repeatable task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0" y="2057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25603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7824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counted against the window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99548" y="3749040"/>
            <a:ext cx="329184" cy="320040"/>
          </a:xfrm>
          <a:prstGeom prst="down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0" y="42062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778240" y="44805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Zero, until the moment it triggers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Subagent?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Claude working toward a goal on its own — reading, acting, observing, repeating. A subagent is a separate one of those, called from inside a skill to handle one isolated piece of work without cluttering the main conversation. Isolation is the whole point.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tools and its own context — often read-only, no file-editing tools at 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9" name="Text 7"/>
          <p:cNvSpPr/>
          <p:nvPr/>
        </p:nvSpPr>
        <p:spPr>
          <a:xfrm>
            <a:off x="1143000" y="36210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model choice, independent of the main session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70248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1143000" y="4224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back one clean result, keeping the main session focused — and can run in the background so it isn't blocking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2860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84048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35C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8404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3291840"/>
            <a:ext cx="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15400" y="3246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then returns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connects Claude to real tools outside the model — often a real browser, a database, or an external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outside the model, called only when a skill or subagent needs 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9" name="Text 7"/>
          <p:cNvSpPr/>
          <p:nvPr/>
        </p:nvSpPr>
        <p:spPr>
          <a:xfrm>
            <a:off x="1143000" y="362102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what actually opens and controls the browser, or calls whatever external tool the task needs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270248"/>
            <a:ext cx="329184" cy="32918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1143000" y="42245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— new servers (Wrike, Teams, your own systems) plug in the same 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2860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286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Subagent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384048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35C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8404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browser)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0" y="3291840"/>
            <a:ext cx="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15400" y="3246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real-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shape every skill follows — not specific to any one skill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2971800"/>
            <a:ext cx="16459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6888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3230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SKILL.md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971800"/>
            <a:ext cx="16459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254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rules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971800"/>
            <a:ext cx="16459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971800"/>
            <a:ext cx="16459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302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 MCP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if needed</a:t>
            </a:r>
            <a:endParaRPr lang="en-US" sz="1050" dirty="0"/>
          </a:p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66960" y="2971800"/>
            <a:ext cx="164592" cy="182880"/>
          </a:xfrm>
          <a:prstGeom prst="right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49840" y="2377440"/>
            <a:ext cx="1719072" cy="1371600"/>
          </a:xfrm>
          <a:prstGeom prst="roundRect">
            <a:avLst>
              <a:gd name="adj" fmla="val 6000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13264" y="237744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back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17072" y="3749040"/>
            <a:ext cx="0" cy="365760"/>
          </a:xfrm>
          <a:prstGeom prst="line">
            <a:avLst/>
          </a:prstGeom>
          <a:noFill/>
          <a:ln w="19050">
            <a:solidFill>
              <a:srgbClr val="35C6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95344" y="4183380"/>
            <a:ext cx="2633472" cy="502920"/>
          </a:xfrm>
          <a:prstGeom prst="roundRect">
            <a:avLst>
              <a:gd name="adj" fmla="val 14545"/>
            </a:avLst>
          </a:prstGeom>
          <a:solidFill>
            <a:srgbClr val="141B47"/>
          </a:solidFill>
          <a:ln w="15875">
            <a:solidFill>
              <a:srgbClr val="35C6C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31920" y="416052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closest fallback file ex: Readme.md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shape every time — a SKILL.md triggers, reads your CLAUDE.md, optionally hands off to a Subagent, and calls an MCP server to actually act in the real world — drive a browser, query a database, post to Teams. Next: what this looks like for real, end to end.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772400" y="4160520"/>
            <a:ext cx="2633472" cy="502920"/>
          </a:xfrm>
          <a:prstGeom prst="roundRect">
            <a:avLst>
              <a:gd name="adj" fmla="val 14545"/>
            </a:avLst>
          </a:prstGeom>
          <a:solidFill>
            <a:srgbClr val="141B47"/>
          </a:solidFill>
          <a:ln w="15875">
            <a:solidFill>
              <a:srgbClr val="35C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772400" y="416052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browsers, databases, Teams ,Wrike, your own APIs</a:t>
            </a:r>
            <a:endParaRPr lang="en-US" sz="10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83850CCD-AE39-9A00-339C-1C1A5A0E0C3F}"/>
              </a:ext>
            </a:extLst>
          </p:cNvPr>
          <p:cNvSpPr/>
          <p:nvPr/>
        </p:nvSpPr>
        <p:spPr>
          <a:xfrm>
            <a:off x="9127793" y="3749040"/>
            <a:ext cx="0" cy="365760"/>
          </a:xfrm>
          <a:prstGeom prst="line">
            <a:avLst/>
          </a:prstGeom>
          <a:noFill/>
          <a:ln w="19050">
            <a:solidFill>
              <a:srgbClr val="35C6C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ship-ticket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it, and where it applies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code was never the slow part. On almost every ticket, the same manual tail followed it: check the change in a browser, capture evidence, write it up twice — once for the PR, once in plain English — then copy it all into Wrike by hand. That tail was repetitive, easy to skip under pressure, and never the same twice between developers.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HELPS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ticket-driven change — bug fixes, small feature tweaks, UI adjustments — where a developer implements, then has to hand-verify and document it before it counts as done.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AUTOMATES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0" y="2103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132320" y="2029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ticket to the right code, using CLAUDE.md and recent git history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9992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132320" y="2926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browser review you drive yourself, then a safe, approval-gated commit + 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89534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7132320" y="38221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during your review — no video, no extra tooling needed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7914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7132320" y="47183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write-up and PR text, ready to paste into Wrike and your PR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lose every day without a shared, enforced way of working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ticket on manual verification, write-ups, and copy-pasting — after the code already works.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514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fast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846320" y="347472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has their own style; without a shared standard, the codebase fragments ticket by ticket.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17830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0" y="21031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2514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late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78240" y="347472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not followed at write-time surface later as review comments or extra work after delivery.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ship-ticket: the real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 Exactly one human checkpoint.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ticket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92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Paste-only — no ticket-system API. The pasted title + description becomes the spec.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6791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Implement, following your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 (or the closest equivalent) and recent git history first; asks one question only when something user-facing is genuinely ambiguous.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84962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review — the one human checkpoint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3367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real browser for you to test the change yourself — no diff to read. Closing the browser is the stop signal, then exactly two choices: “Yes, ship it” or “Needs changes.” Yes commits, pushes, and drafts PR text — no PR is opened automatically.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657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502005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packaging &amp; artifact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4041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background after push, so you're free to move to the next ticket. The verify-and-summarize subagent runs tests, uploads screenshots, and publishes one artifact with a pass/fail verdict.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under the hood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035040" cy="4800600"/>
          </a:xfrm>
          <a:prstGeom prst="roundRect">
            <a:avLst>
              <a:gd name="adj" fmla="val 1524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5577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ship-ticket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Trigger on the paste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alone — a bare paste IS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instruction to run this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1 — Ingest the ticket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Paste-only. No ticket-system API.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2 — Implement your way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CLAUDE.md, check git log/blame.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3 — Browser review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test it; closing the browser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the signal. Commits + pushes on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“yes” — no PR opened automatically.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4 — Packaging (background)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 off to verify-and-summarize.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fabricate a “verified” claim.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shape works for any task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95160" y="160020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you're done without being told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223760" y="20848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“done” reply required — it silently re-checks the browser in the background, and the check failing (because you closed it) is the actual signal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3"/>
          <p:cNvSpPr/>
          <p:nvPr/>
        </p:nvSpPr>
        <p:spPr>
          <a:xfrm>
            <a:off x="6995160" y="285750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22376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runs on a subagent that literally can't touch your code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7223760" y="32176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verify-and-summarize is spun up with zero file-editing tools by design — not a rule it follows, a capability it was never given</a:t>
            </a:r>
            <a:endParaRPr lang="en-US" sz="1150" dirty="0"/>
          </a:p>
        </p:txBody>
      </p:sp>
      <p:sp>
        <p:nvSpPr>
          <p:cNvPr id="11" name="Shape 3"/>
          <p:cNvSpPr/>
          <p:nvPr/>
        </p:nvSpPr>
        <p:spPr>
          <a:xfrm>
            <a:off x="6995160" y="4206241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/>
          <p:cNvSpPr/>
          <p:nvPr/>
        </p:nvSpPr>
        <p:spPr>
          <a:xfrm>
            <a:off x="7208520" y="432639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 message isn't a template</a:t>
            </a:r>
            <a:endParaRPr lang="en-US" sz="1450" dirty="0"/>
          </a:p>
        </p:txBody>
      </p:sp>
      <p:sp>
        <p:nvSpPr>
          <p:cNvPr id="13" name="Text 5"/>
          <p:cNvSpPr/>
          <p:nvPr/>
        </p:nvSpPr>
        <p:spPr>
          <a:xfrm>
            <a:off x="7223760" y="45892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drafting anything, it reads your own recent git log for tense, length, and prefixes — so it sounds like your team wrote it, not a bot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verify-and-summarize subagent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narrow on purpose: it checks, it doesn't edit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project's test suite, if one exists — real pass/fail, no guessing at root cause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9" name="Text 7"/>
          <p:cNvSpPr/>
          <p:nvPr/>
        </p:nvSpPr>
        <p:spPr>
          <a:xfrm>
            <a:off x="1188720" y="240487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every screenshot from your review as a real, embeddable link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1188720" y="3300984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one HTML artifact — screenshots, test results, and PR title/description, ready to copy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88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188720" y="4197096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assumes success — reports PASS, FAIL, or UNCERTAIN with real evidence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Read, Grep, Glob, Bash, WebFetch, MCP resource lookups, and Artifact — still no file-editing tools.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002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16002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commit hash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handed off by the skill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81160" y="2560320"/>
            <a:ext cx="365760" cy="320040"/>
          </a:xfrm>
          <a:prstGeom prst="down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29260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tests, uploads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drafts the report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81160" y="3886200"/>
            <a:ext cx="365760" cy="320040"/>
          </a:xfrm>
          <a:prstGeom prst="downArrow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6640" y="425196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06640" y="42519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PASS / FAIL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+ evidence + caveats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400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real ticket. Watch it ship.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the skill, and the subagent — working together on a real ticket · ~10 minutes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after today's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87068" y="2514600"/>
            <a:ext cx="512064" cy="51206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8706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804672" y="324612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automation, done right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9776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drafts PR title/description only — explore safely raising it once proven across GitHub/Azure DevOps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1708" y="25146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170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12" name="Text 10"/>
          <p:cNvSpPr/>
          <p:nvPr/>
        </p:nvSpPr>
        <p:spPr>
          <a:xfrm>
            <a:off x="3639312" y="324612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team plugin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9312" y="39776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install for the whole dev team, not a personal script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56348" y="2514600"/>
            <a:ext cx="512064" cy="512064"/>
          </a:xfrm>
          <a:prstGeom prst="ellipse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5634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17" name="Text 15"/>
          <p:cNvSpPr/>
          <p:nvPr/>
        </p:nvSpPr>
        <p:spPr>
          <a:xfrm>
            <a:off x="6473952" y="324612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repetitive task, any team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73952" y="39776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applies beyond QA tickets — find the repeated tail on any team's workflow and automate it the same way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21945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90988" y="25146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90988" y="2514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6" dirty="0"/>
          </a:p>
        </p:txBody>
      </p:sp>
      <p:sp>
        <p:nvSpPr>
          <p:cNvPr id="22" name="Text 20"/>
          <p:cNvSpPr/>
          <p:nvPr/>
        </p:nvSpPr>
        <p:spPr>
          <a:xfrm>
            <a:off x="9308592" y="3246120"/>
            <a:ext cx="2276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your stack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08592" y="3977640"/>
            <a:ext cx="22768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MCP servers (Wrike, Teams, Figma, your own systems) slot in the same way Playwright did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next ticket — the CLAUDE.md, skill, and subagent files are ready to share.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35C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C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2900</Words>
  <Application>Microsoft Office PowerPoint</Application>
  <PresentationFormat>Widescreen</PresentationFormat>
  <Paragraphs>353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Vishw Patel</cp:lastModifiedBy>
  <cp:revision>4</cp:revision>
  <dcterms:created xsi:type="dcterms:W3CDTF">2026-08-18T05:29:13Z</dcterms:created>
  <dcterms:modified xsi:type="dcterms:W3CDTF">2026-08-19T10:25:15Z</dcterms:modified>
</cp:coreProperties>
</file>