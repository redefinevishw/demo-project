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2580" y="1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278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0.5 min - Welcome. State the format up front: 30 minutes total, the last 10 are a live demo on a real Wrike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0.5 min - Walk the agenda in one breath. Flag that item 5 is where the 10-minute live demo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1.5 min - The problem, from my own week: read the ticket, brief the AI on the codebase, verify in browser, screenshot/Jam a video, then write the PR body AND the Wrike comment separately. None of that is coding — it's the tail after the code already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1.5 min - ship-ticket is the fix: one skill that owns the whole tail after implementation. Cover why, where it applies, and preview the 4 automated steps — diff/commit gate is the only human checkpoint.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1.5 min - Level-set for anyone new to Claude Code: it's agentic (reads, acts, observes, repeats), not a chatbox. Three guardrails: finite context, asks permission by default, can still be wrong — so a human checkpoint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 - The Explore → Plan → Code → Commit rhythm is Claude Code's default workflow for any real task. ship-ticket is that same rhythm encoded into one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 - Five surfaces that customize Claude Code to a team: CLAUDE.md, Skills, Subagents, MCP servers, Hooks. Today's demo uses the three in teal.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1.5 min - CLAUDE.md is the single file every skill/subagent reads first — conventions, structure, security, review rules, encoded once instead of repeated in every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 - A Skill is a folder of instructions Claude auto-triggers on a matching task — no command to remember, versioned in the repo like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 - A Subagent is a separate Claude instance with its own context, used to keep noisy work (browser logs, screenshots) out of the main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 - How they combine in ship-ticket: commit happens right at the human 'yes' checkpoint; verification and the write-up run automatically after, in a subagent.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1.5 min - Walk the real 4 steps: ingest (paste-only), implement (reads CLAUDE.md + git history, asks only if genuinely ambiguous), review gate (exactly two choices), automated verification +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 - This is the literal SKILL.md from the repo — point out the auto-trigger description, the rules fallback chain, and the hard constraint against fabricating a 'verified'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 - verify-and-summarize is scoped narrow on purpose: no file-editing tools. It drives Playwright MCP for the real browser check every time; Jam is optional and only used for video when requested and connected. It reports PASS / FAIL / UNCERTAIN, never a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 min - LIVE DEMO. Paste a real ticket from Wrike. Let Claude read CLAUDE.md + git history and implement. Show the diff review gate, approve, watch it commit. Let verify-and-summarize drive the browser, publish the artifact, and paste the Wrike-ready summary back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 - Before vs. after on the same three pillars from slide 3: time, consistency, rework — tie it back to what was promised at the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min - What's next: richer Jam integration, packaging as a team plugin, hooks for hard guardrails, extending the same pattern beyond UI tickets to backend/API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0.5 min - Close: invite the team to try it on their next ticket, the files are ready to share. 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141B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141B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Subagents &amp; CLAUDE.md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875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delivery. Consistent code. Less rework after release.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Claude Code fundamentals to a working skill in our own repo — 30 min total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30" dirty="0"/>
          </a:p>
        </p:txBody>
      </p:sp>
      <p:sp>
        <p:nvSpPr>
          <p:cNvPr id="6" name="Text 4"/>
          <p:cNvSpPr/>
          <p:nvPr/>
        </p:nvSpPr>
        <p:spPr>
          <a:xfrm>
            <a:off x="1325880" y="172821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cost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5880" y="20574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inconsistent code, and rework after delivery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1325880" y="250545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 ship-ticket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25880" y="28346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built it and what it automates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337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30" dirty="0"/>
          </a:p>
        </p:txBody>
      </p:sp>
      <p:sp>
        <p:nvSpPr>
          <p:cNvPr id="14" name="Text 12"/>
          <p:cNvSpPr/>
          <p:nvPr/>
        </p:nvSpPr>
        <p:spPr>
          <a:xfrm>
            <a:off x="1325880" y="328269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fundamentals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25880" y="36118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loop and the core workflow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17830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0936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30" dirty="0"/>
          </a:p>
        </p:txBody>
      </p:sp>
      <p:sp>
        <p:nvSpPr>
          <p:cNvPr id="18" name="Text 16"/>
          <p:cNvSpPr/>
          <p:nvPr/>
        </p:nvSpPr>
        <p:spPr>
          <a:xfrm>
            <a:off x="6995160" y="172821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CLAUDE.md, Skills &amp; Subagents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95160" y="20574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building blocks behind this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309360" y="25603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093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30" dirty="0"/>
          </a:p>
        </p:txBody>
      </p:sp>
      <p:sp>
        <p:nvSpPr>
          <p:cNvPr id="22" name="Text 20"/>
          <p:cNvSpPr/>
          <p:nvPr/>
        </p:nvSpPr>
        <p:spPr>
          <a:xfrm>
            <a:off x="6995160" y="250545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ship-ticket + live demo (10 min)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995160" y="28346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our real skill and subagent work, then a real ticket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33375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09360" y="3337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30" dirty="0"/>
          </a:p>
        </p:txBody>
      </p:sp>
      <p:sp>
        <p:nvSpPr>
          <p:cNvPr id="26" name="Text 24"/>
          <p:cNvSpPr/>
          <p:nvPr/>
        </p:nvSpPr>
        <p:spPr>
          <a:xfrm>
            <a:off x="6995160" y="328269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what's next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95160" y="36118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saved, consistency gained, rework reduced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cost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lose every day without a shared, enforced way of working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5C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5–30 min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971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per ticket on manual verification, write-ups, and copy-pasting — after the code already works.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78308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46320" y="21031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5C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25146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Drifts fast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846320" y="3474720"/>
            <a:ext cx="2971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developer has their own style; without a shared standard, the codebase fragments ticket by ticket.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78308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778240" y="21031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5C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778240" y="25146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late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778240" y="3474720"/>
            <a:ext cx="2971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not followed at write-time surface later as review comments or extra work after delivery.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 ship-ticket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 we built to remove the repetitive tail of every ticket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35C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BUILT IT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5394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the code was never the slow part. On almost every ticket, the same manual tail followed it: check the change in a browser, capture evidence, write it up twice — once for the PR, once in plain English — then copy it all into Wrike by hand. That tail was repetitive, easy to skip under pressure, and never the same twice between developers.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35C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HELPS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5394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ticket-driven change — bug fixes, small feature tweaks, UI adjustments — where a developer implements, then has to hand-verify and document it before it counts as done.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AUTOMATES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0" y="21031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7132320" y="202996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the ticket to the right code, using CLAUDE.md and recent git history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0" y="299923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83680" y="29992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40" dirty="0"/>
          </a:p>
        </p:txBody>
      </p:sp>
      <p:sp>
        <p:nvSpPr>
          <p:cNvPr id="14" name="Text 12"/>
          <p:cNvSpPr/>
          <p:nvPr/>
        </p:nvSpPr>
        <p:spPr>
          <a:xfrm>
            <a:off x="7132320" y="292608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 review and safe, approval-gated commit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0" y="3895344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83680" y="3895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7132320" y="382219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Post-commit browser verification via Playwright MCP, with evidence gathering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83680" y="479145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83680" y="47914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40" dirty="0"/>
          </a:p>
        </p:txBody>
      </p:sp>
      <p:sp>
        <p:nvSpPr>
          <p:cNvPr id="20" name="Text 18"/>
          <p:cNvSpPr/>
          <p:nvPr/>
        </p:nvSpPr>
        <p:spPr>
          <a:xfrm>
            <a:off x="7132320" y="471830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dual-audience write-up, ready to paste into Wrike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Claude Code?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5394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coding tool, not a chatbox. It reads your codebase, edits files, runs commands, and works toward a goal you give it — inside your existing dev tools.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347472" cy="347472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88" dirty="0"/>
          </a:p>
        </p:txBody>
      </p:sp>
      <p:sp>
        <p:nvSpPr>
          <p:cNvPr id="6" name="Text 4"/>
          <p:cNvSpPr/>
          <p:nvPr/>
        </p:nvSpPr>
        <p:spPr>
          <a:xfrm>
            <a:off x="1170432" y="280720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finite — what Claude can see shapes what it can 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593592"/>
            <a:ext cx="347472" cy="347472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359359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88" dirty="0"/>
          </a:p>
        </p:txBody>
      </p:sp>
      <p:sp>
        <p:nvSpPr>
          <p:cNvPr id="9" name="Text 7"/>
          <p:cNvSpPr/>
          <p:nvPr/>
        </p:nvSpPr>
        <p:spPr>
          <a:xfrm>
            <a:off x="1170432" y="3520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asks for permission by default before acting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306824"/>
            <a:ext cx="347472" cy="347472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43068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88" dirty="0"/>
          </a:p>
        </p:txBody>
      </p:sp>
      <p:sp>
        <p:nvSpPr>
          <p:cNvPr id="12" name="Text 10"/>
          <p:cNvSpPr/>
          <p:nvPr/>
        </p:nvSpPr>
        <p:spPr>
          <a:xfrm>
            <a:off x="1170432" y="4233672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can make mistakes — staying in the loop isn't optional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13716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LOOP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92240" y="1828800"/>
            <a:ext cx="1554480" cy="1051560"/>
          </a:xfrm>
          <a:prstGeom prst="roundRect">
            <a:avLst>
              <a:gd name="adj" fmla="val 782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55664" y="1828800"/>
            <a:ext cx="16276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codebase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65008" y="2263140"/>
            <a:ext cx="237744" cy="182880"/>
          </a:xfrm>
          <a:prstGeom prst="right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321040" y="1828800"/>
            <a:ext cx="1554480" cy="1051560"/>
          </a:xfrm>
          <a:prstGeom prst="roundRect">
            <a:avLst>
              <a:gd name="adj" fmla="val 7826"/>
            </a:avLst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84464" y="1828800"/>
            <a:ext cx="16276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893808" y="2263140"/>
            <a:ext cx="237744" cy="182880"/>
          </a:xfrm>
          <a:prstGeom prst="right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149840" y="1828800"/>
            <a:ext cx="1554480" cy="1051560"/>
          </a:xfrm>
          <a:prstGeom prst="roundRect">
            <a:avLst>
              <a:gd name="adj" fmla="val 782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113264" y="1828800"/>
            <a:ext cx="16276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Observes the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92240" y="31546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repeats until the goal is met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92240" y="3840480"/>
            <a:ext cx="5029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66560" y="3840480"/>
            <a:ext cx="44805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answers a question.</a:t>
            </a:r>
            <a:endParaRPr lang="en-US" sz="13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reads, edits, runs, and reports back.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 → Plan → Code → Commit rhythm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Code's core workflow for any real task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03504" y="2103120"/>
            <a:ext cx="267919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the relevant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first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64408" y="3154680"/>
            <a:ext cx="283464" cy="182880"/>
          </a:xfrm>
          <a:prstGeom prst="right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566160" y="210312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529584" y="2103120"/>
            <a:ext cx="267919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an approach —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course-correct before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code is written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90488" y="3154680"/>
            <a:ext cx="283464" cy="182880"/>
          </a:xfrm>
          <a:prstGeom prst="right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92240" y="210312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55664" y="2103120"/>
            <a:ext cx="267919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with your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as it happens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16568" y="3154680"/>
            <a:ext cx="283464" cy="182880"/>
          </a:xfrm>
          <a:prstGeom prst="right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418320" y="210312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381744" y="2103120"/>
            <a:ext cx="267919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it cleanly, with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record of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800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straight to “write the code” is the most common mistake — it just means more correcting later.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ship-ticket follows this same rhythm: Step 1 is Explore, Step 2 is Plan + Code, Step 3 is the Commit checkpoint.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ways to make Claude Code yours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the box Claude Code is general-purpose — these are the surfaces that tune it to how your team actually works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084832" cy="3840480"/>
          </a:xfrm>
          <a:prstGeom prst="roundRect">
            <a:avLst>
              <a:gd name="adj" fmla="val 4386"/>
            </a:avLst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86384" y="2240280"/>
            <a:ext cx="17922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86384" y="2971800"/>
            <a:ext cx="1792224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— conventions Claude remembers across sessions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926080" y="1965960"/>
            <a:ext cx="2084832" cy="3840480"/>
          </a:xfrm>
          <a:prstGeom prst="roundRect">
            <a:avLst>
              <a:gd name="adj" fmla="val 4386"/>
            </a:avLst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072384" y="2240280"/>
            <a:ext cx="17922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72384" y="2971800"/>
            <a:ext cx="1792224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instructions for tasks you repeat often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12080" y="1965960"/>
            <a:ext cx="2084832" cy="3840480"/>
          </a:xfrm>
          <a:prstGeom prst="roundRect">
            <a:avLst>
              <a:gd name="adj" fmla="val 4386"/>
            </a:avLst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58384" y="2240280"/>
            <a:ext cx="17922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358384" y="2971800"/>
            <a:ext cx="1792224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delegates that keep noisy work out of the main session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98080" y="1965960"/>
            <a:ext cx="2084832" cy="3840480"/>
          </a:xfrm>
          <a:prstGeom prst="roundRect">
            <a:avLst>
              <a:gd name="adj" fmla="val 438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44384" y="2240280"/>
            <a:ext cx="17922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644384" y="2971800"/>
            <a:ext cx="1792224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external systems — Jam, Jira, your own tools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784080" y="1965960"/>
            <a:ext cx="2084832" cy="3840480"/>
          </a:xfrm>
          <a:prstGeom prst="roundRect">
            <a:avLst>
              <a:gd name="adj" fmla="val 438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930384" y="2240280"/>
            <a:ext cx="17922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930384" y="2971800"/>
            <a:ext cx="1792224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guardrails around what Claude is allowed to do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5943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demo covers the three in teal: CLAUDE.md, Skills, and Subagents.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CLAUDE.md: your rules, encoded once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5394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file in the repo where your team's conventions live: naming, structure, formatting, security rules, review standards. Every skill and subagent reads it before writing a line of code.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108960"/>
            <a:ext cx="365760" cy="365760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40" dirty="0"/>
          </a:p>
        </p:txBody>
      </p:sp>
      <p:sp>
        <p:nvSpPr>
          <p:cNvPr id="6" name="Text 4"/>
          <p:cNvSpPr/>
          <p:nvPr/>
        </p:nvSpPr>
        <p:spPr>
          <a:xfrm>
            <a:off x="1188720" y="303580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332841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follows the same style, whoever wrote 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365760" cy="365760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40" dirty="0"/>
          </a:p>
        </p:txBody>
      </p:sp>
      <p:sp>
        <p:nvSpPr>
          <p:cNvPr id="10" name="Text 8"/>
          <p:cNvSpPr/>
          <p:nvPr/>
        </p:nvSpPr>
        <p:spPr>
          <a:xfrm>
            <a:off x="1188720" y="381304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410565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review rules are applied before code ships, not caught after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365760" cy="365760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40" dirty="0"/>
          </a:p>
        </p:txBody>
      </p:sp>
      <p:sp>
        <p:nvSpPr>
          <p:cNvPr id="14" name="Text 12"/>
          <p:cNvSpPr/>
          <p:nvPr/>
        </p:nvSpPr>
        <p:spPr>
          <a:xfrm>
            <a:off x="1188720" y="459028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rework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488289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enforced at write-time mean fewer review cycles and fixes after delivery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557784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ship-ticket also falls back to CONTRIBUTING.md, RULEBOOK.md, or README.md if CLAUDE.md doesn't exist.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0" y="1371600"/>
            <a:ext cx="5029200" cy="4754880"/>
          </a:xfrm>
          <a:prstGeom prst="roundRect">
            <a:avLst>
              <a:gd name="adj" fmla="val 1538"/>
            </a:avLst>
          </a:prstGeom>
          <a:solidFill>
            <a:srgbClr val="141B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12280" y="1600200"/>
            <a:ext cx="45720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CLAUDE.md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Code style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- 2-space indent, no semicolons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Component names: PascalCase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Structure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Feature folders, not type folders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No business logic in views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Compliance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No secrets or keys in source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Every API call wrapped in error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handling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Match existing naming in the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 before adding new terms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Review standard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No commit without a passing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 test run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Claude Skill?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5394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of instructions that teaches Claude how to handle one specific kind of task. Claude reads its description and auto-triggers it when it recognizes a matching task — no command to memorize, no menu to dig through.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63240"/>
            <a:ext cx="329184" cy="329184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36" dirty="0"/>
          </a:p>
        </p:txBody>
      </p:sp>
      <p:sp>
        <p:nvSpPr>
          <p:cNvPr id="6" name="Text 4"/>
          <p:cNvSpPr/>
          <p:nvPr/>
        </p:nvSpPr>
        <p:spPr>
          <a:xfrm>
            <a:off x="1143000" y="3017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Auto-triggers on matching tasks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666744"/>
            <a:ext cx="329184" cy="329184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36667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36" dirty="0"/>
          </a:p>
        </p:txBody>
      </p:sp>
      <p:sp>
        <p:nvSpPr>
          <p:cNvPr id="9" name="Text 7"/>
          <p:cNvSpPr/>
          <p:nvPr/>
        </p:nvSpPr>
        <p:spPr>
          <a:xfrm>
            <a:off x="1143000" y="362102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the repo, versionable like code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270248"/>
            <a:ext cx="329184" cy="329184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4270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36" dirty="0"/>
          </a:p>
        </p:txBody>
      </p:sp>
      <p:sp>
        <p:nvSpPr>
          <p:cNvPr id="12" name="Text 10"/>
          <p:cNvSpPr/>
          <p:nvPr/>
        </p:nvSpPr>
        <p:spPr>
          <a:xfrm>
            <a:off x="1143000" y="4224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call subagents for isolated steps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19659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 → Task Match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2377440"/>
            <a:ext cx="1508760" cy="1188720"/>
          </a:xfrm>
          <a:prstGeom prst="roundRect">
            <a:avLst>
              <a:gd name="adj" fmla="val 6923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64224" y="2377440"/>
            <a:ext cx="158191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927848" y="2880360"/>
            <a:ext cx="256032" cy="182880"/>
          </a:xfrm>
          <a:prstGeom prst="right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202168" y="2377440"/>
            <a:ext cx="1508760" cy="1188720"/>
          </a:xfrm>
          <a:prstGeom prst="roundRect">
            <a:avLst>
              <a:gd name="adj" fmla="val 6923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165592" y="2377440"/>
            <a:ext cx="158191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729216" y="2880360"/>
            <a:ext cx="256032" cy="182880"/>
          </a:xfrm>
          <a:prstGeom prst="right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003536" y="2377440"/>
            <a:ext cx="1508760" cy="1188720"/>
          </a:xfrm>
          <a:prstGeom prst="roundRect">
            <a:avLst>
              <a:gd name="adj" fmla="val 6923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966960" y="2377440"/>
            <a:ext cx="158191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Subagent?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5394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Claude instance with its own context window, called from inside a skill to handle one isolated piece of work — like checking a video and log data — without cluttering the main conversation.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63240"/>
            <a:ext cx="329184" cy="329184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36" dirty="0"/>
          </a:p>
        </p:txBody>
      </p:sp>
      <p:sp>
        <p:nvSpPr>
          <p:cNvPr id="6" name="Text 4"/>
          <p:cNvSpPr/>
          <p:nvPr/>
        </p:nvSpPr>
        <p:spPr>
          <a:xfrm>
            <a:off x="1143000" y="3017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main session focused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666744"/>
            <a:ext cx="329184" cy="329184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36667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36" dirty="0"/>
          </a:p>
        </p:txBody>
      </p:sp>
      <p:sp>
        <p:nvSpPr>
          <p:cNvPr id="9" name="Text 7"/>
          <p:cNvSpPr/>
          <p:nvPr/>
        </p:nvSpPr>
        <p:spPr>
          <a:xfrm>
            <a:off x="1143000" y="362102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its own context and tools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270248"/>
            <a:ext cx="329184" cy="329184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4270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36" dirty="0"/>
          </a:p>
        </p:txBody>
      </p:sp>
      <p:sp>
        <p:nvSpPr>
          <p:cNvPr id="12" name="Text 10"/>
          <p:cNvSpPr/>
          <p:nvPr/>
        </p:nvSpPr>
        <p:spPr>
          <a:xfrm>
            <a:off x="1143000" y="4224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back one clean result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75120" y="2286000"/>
            <a:ext cx="210312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75120" y="2286000"/>
            <a:ext cx="2103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ship-ticket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(main)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675120" y="3840480"/>
            <a:ext cx="21031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35C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75120" y="3840480"/>
            <a:ext cx="2103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verify-and-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(subagent)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26680" y="3291840"/>
            <a:ext cx="0" cy="548640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915400" y="32461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then returns</a:t>
            </a:r>
            <a:endParaRPr lang="en-US" sz="1150" dirty="0"/>
          </a:p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result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work together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ship-ticket flow — commit happens at the human checkpoint; verification runs automatically after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7190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12064" y="2377440"/>
            <a:ext cx="179222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86000" y="2971800"/>
            <a:ext cx="164592" cy="182880"/>
          </a:xfrm>
          <a:prstGeom prst="right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468880" y="2377440"/>
            <a:ext cx="1719072" cy="1371600"/>
          </a:xfrm>
          <a:prstGeom prst="roundRect">
            <a:avLst>
              <a:gd name="adj" fmla="val 6000"/>
            </a:avLst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432304" y="2377440"/>
            <a:ext cx="179222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(reads CLAUDE.md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git history)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0" y="2971800"/>
            <a:ext cx="164592" cy="182880"/>
          </a:xfrm>
          <a:prstGeom prst="right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89120" y="2377440"/>
            <a:ext cx="17190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52544" y="2377440"/>
            <a:ext cx="179222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gate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(human: yes /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changes)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2971800"/>
            <a:ext cx="164592" cy="182880"/>
          </a:xfrm>
          <a:prstGeom prst="right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309360" y="2377440"/>
            <a:ext cx="1719072" cy="1371600"/>
          </a:xfrm>
          <a:prstGeom prst="roundRect">
            <a:avLst>
              <a:gd name="adj" fmla="val 6000"/>
            </a:avLst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72784" y="2377440"/>
            <a:ext cx="179222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2971800"/>
            <a:ext cx="164592" cy="182880"/>
          </a:xfrm>
          <a:prstGeom prst="right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229600" y="2377440"/>
            <a:ext cx="17190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93024" y="2377440"/>
            <a:ext cx="179222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verify-and-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(automated)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966960" y="2971800"/>
            <a:ext cx="164592" cy="182880"/>
          </a:xfrm>
          <a:prstGeom prst="right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149840" y="2377440"/>
            <a:ext cx="1719072" cy="1371600"/>
          </a:xfrm>
          <a:prstGeom prst="roundRect">
            <a:avLst>
              <a:gd name="adj" fmla="val 6000"/>
            </a:avLst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113264" y="2377440"/>
            <a:ext cx="179222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+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Wrike-ready text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28416" y="3794760"/>
            <a:ext cx="0" cy="365760"/>
          </a:xfrm>
          <a:prstGeom prst="line">
            <a:avLst/>
          </a:prstGeom>
          <a:noFill/>
          <a:ln w="19050">
            <a:solidFill>
              <a:srgbClr val="35C6C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011680" y="4160520"/>
            <a:ext cx="2633472" cy="502920"/>
          </a:xfrm>
          <a:prstGeom prst="roundRect">
            <a:avLst>
              <a:gd name="adj" fmla="val 14545"/>
            </a:avLst>
          </a:prstGeom>
          <a:solidFill>
            <a:srgbClr val="141B47"/>
          </a:solidFill>
          <a:ln w="15875">
            <a:solidFill>
              <a:srgbClr val="35C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011680" y="4160520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CLAUDE.md (or fallback)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5349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commit happens right after your “yes.” Verification and the write-up run after that, automatically — and never claim success without real evidence.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ship-ticket: the real 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steps. Exactly one human checkpoint.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80160" y="150876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the ticket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892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Paste-only — no ticket-system API. The pasted title + description becomes the spec.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7249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267919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Implement, following your rules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06324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CLAUDE.md (or the closest equivalent) and recent git history first; asks one question only when something user-facing is genuinely ambiguous.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8953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3849624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gate — the one human checkpoint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23367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full diff + a one-line why. Exactly two choices: “Yes, ship it” or “Needs changes.” Yes stages, drafts a commit message in your repo's style, and commits — no second confirmation.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6577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50657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80160" y="5020056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verification &amp; artifact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5404104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after the commit. Classifies the change and asks if video is needed, then hands off to the verify-and-summarize subagent, which publishes one artifact and a pass/fail verdict.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under the hood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6035040" cy="4800600"/>
          </a:xfrm>
          <a:prstGeom prst="roundRect">
            <a:avLst>
              <a:gd name="adj" fmla="val 1524"/>
            </a:avLst>
          </a:prstGeom>
          <a:solidFill>
            <a:srgbClr val="141B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8680" y="1600200"/>
            <a:ext cx="557784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ship-ticket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Use when the user pastes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raw ticket text and asks to implement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it, or says "ship this ticket"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Step 1 — Ingest the ticket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Paste-only. No ticket-system API.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Step 2 — Implement, following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the project's own rules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CLAUDE.md, check git log/blame,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 only if genuinely ambiguous.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Step 3 — Review gate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Exactly two paths: "Yes, ship it" or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"Needs changes." Commits on yes.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Step 4 — Automated verification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 off to verify-and-summarize.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fabricate a "verified" claim.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995160" y="1600200"/>
            <a:ext cx="4572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0" y="17373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223760" y="208483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pasted ticket text — no command to remember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995160" y="2971800"/>
            <a:ext cx="4572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223760" y="3108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fallback chain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223760" y="345643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CLAUDE.md, then CONTRIBUTING.md, RULEBOOK.md, or README.md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995160" y="4343400"/>
            <a:ext cx="4572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23760" y="44805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constraint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23760" y="482803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fabricate a video, link, or “verified” claim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verify-and-summarize subagent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narrow on purpose: it checks, it doesn't edit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92" dirty="0"/>
          </a:p>
        </p:txBody>
      </p:sp>
      <p:sp>
        <p:nvSpPr>
          <p:cNvPr id="6" name="Text 4"/>
          <p:cNvSpPr/>
          <p:nvPr/>
        </p:nvSpPr>
        <p:spPr>
          <a:xfrm>
            <a:off x="1188720" y="1508760"/>
            <a:ext cx="5577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the flow in a real browser via Playwright MCP — screenshots, console, network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49631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92" dirty="0"/>
          </a:p>
        </p:txBody>
      </p:sp>
      <p:sp>
        <p:nvSpPr>
          <p:cNvPr id="9" name="Text 7"/>
          <p:cNvSpPr/>
          <p:nvPr/>
        </p:nvSpPr>
        <p:spPr>
          <a:xfrm>
            <a:off x="1188720" y="2404872"/>
            <a:ext cx="5577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Diffs against the previous commit to compare current vs. prior behavior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39242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3392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92" dirty="0"/>
          </a:p>
        </p:txBody>
      </p:sp>
      <p:sp>
        <p:nvSpPr>
          <p:cNvPr id="12" name="Text 10"/>
          <p:cNvSpPr/>
          <p:nvPr/>
        </p:nvSpPr>
        <p:spPr>
          <a:xfrm>
            <a:off x="1188720" y="3300984"/>
            <a:ext cx="5577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video was requested, uses Jam MCP when available — else a labeled screenshot storyboard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28853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42885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92" dirty="0"/>
          </a:p>
        </p:txBody>
      </p:sp>
      <p:sp>
        <p:nvSpPr>
          <p:cNvPr id="15" name="Text 13"/>
          <p:cNvSpPr/>
          <p:nvPr/>
        </p:nvSpPr>
        <p:spPr>
          <a:xfrm>
            <a:off x="1188720" y="4197096"/>
            <a:ext cx="5577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assumes success — reports PASS, FAIL, or UNCERTAIN with real evidence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Read, Grep, Glob, Bash, WebFetch, and MCP resource lookups — no file-editing tools at all.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06640" y="1600200"/>
            <a:ext cx="4114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406640" y="160020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Ticket, diff &amp; commit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hash, handed off by the skill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281160" y="2560320"/>
            <a:ext cx="365760" cy="320040"/>
          </a:xfrm>
          <a:prstGeom prst="down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406640" y="2926080"/>
            <a:ext cx="411480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406640" y="29260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Playwright to verify,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Jam only if video needed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81160" y="3886200"/>
            <a:ext cx="365760" cy="320040"/>
          </a:xfrm>
          <a:prstGeom prst="down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406640" y="4251960"/>
            <a:ext cx="4114800" cy="1188720"/>
          </a:xfrm>
          <a:prstGeom prst="roundRect">
            <a:avLst>
              <a:gd name="adj" fmla="val 6154"/>
            </a:avLst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06640" y="425196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PASS / FAIL /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+ evidence + caveats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141B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4114800"/>
            <a:ext cx="4572000" cy="4572000"/>
          </a:xfrm>
          <a:prstGeom prst="ellipse">
            <a:avLst/>
          </a:prstGeom>
          <a:solidFill>
            <a:srgbClr val="141B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400" dirty="0">
                <a:solidFill>
                  <a:srgbClr val="35C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real ticket. Watch it ship.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CLAUDE.md, the skill, and the subagent — working together on a real ticket · ~10 minutes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before vs. after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pillars from the start of this deck — here's what actually moves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0574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5–30 min manual overhead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35708" y="3749040"/>
            <a:ext cx="329184" cy="320040"/>
          </a:xfrm>
          <a:prstGeom prst="down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420624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35C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14400" y="448056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Minutes, mostly just your review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0" y="178308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20574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256032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846320" y="28346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varies by developer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67628" y="3749040"/>
            <a:ext cx="329184" cy="320040"/>
          </a:xfrm>
          <a:prstGeom prst="down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0" y="420624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35C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46320" y="448056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follows CLAUDE.md automatically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178308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778240" y="20574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256032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778240" y="28346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E23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in review or after delivery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099548" y="3749040"/>
            <a:ext cx="329184" cy="320040"/>
          </a:xfrm>
          <a:prstGeom prst="downArrow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778240" y="420624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35C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778240" y="448056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enforced before the commit even happens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after today's demo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87068" y="2514600"/>
            <a:ext cx="512064" cy="512064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87068" y="25146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6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56" dirty="0"/>
          </a:p>
        </p:txBody>
      </p:sp>
      <p:sp>
        <p:nvSpPr>
          <p:cNvPr id="7" name="Text 5"/>
          <p:cNvSpPr/>
          <p:nvPr/>
        </p:nvSpPr>
        <p:spPr>
          <a:xfrm>
            <a:off x="804672" y="3246120"/>
            <a:ext cx="2276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Jam integration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04672" y="3977640"/>
            <a:ext cx="22768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Auto-pull annotations and repro steps when a Jam MCP connector is present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219456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21708" y="251460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21708" y="25146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56" dirty="0"/>
          </a:p>
        </p:txBody>
      </p:sp>
      <p:sp>
        <p:nvSpPr>
          <p:cNvPr id="12" name="Text 10"/>
          <p:cNvSpPr/>
          <p:nvPr/>
        </p:nvSpPr>
        <p:spPr>
          <a:xfrm>
            <a:off x="3639312" y="3246120"/>
            <a:ext cx="2276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as a team plugin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639312" y="3977640"/>
            <a:ext cx="22768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install for the whole dev team, not a personal script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219456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56348" y="2514600"/>
            <a:ext cx="512064" cy="512064"/>
          </a:xfrm>
          <a:prstGeom prst="ellipse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56348" y="25146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6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56" dirty="0"/>
          </a:p>
        </p:txBody>
      </p:sp>
      <p:sp>
        <p:nvSpPr>
          <p:cNvPr id="17" name="Text 15"/>
          <p:cNvSpPr/>
          <p:nvPr/>
        </p:nvSpPr>
        <p:spPr>
          <a:xfrm>
            <a:off x="6473952" y="3246120"/>
            <a:ext cx="2276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hooks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73952" y="3977640"/>
            <a:ext cx="22768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guardrails — e.g. block a commit if local tests didn't run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44000" y="219456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190988" y="251460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190988" y="25146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56" dirty="0"/>
          </a:p>
        </p:txBody>
      </p:sp>
      <p:sp>
        <p:nvSpPr>
          <p:cNvPr id="22" name="Text 20"/>
          <p:cNvSpPr/>
          <p:nvPr/>
        </p:nvSpPr>
        <p:spPr>
          <a:xfrm>
            <a:off x="9308592" y="3246120"/>
            <a:ext cx="22768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UI tickets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308592" y="3977640"/>
            <a:ext cx="22768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same Explore-Plan-Code-Commit pattern to backend and API changes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141B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task. A fraction of the time.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on your next ticket — the CLAUDE.md, skill, and subagent files are ready to share.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502920" cy="36576"/>
          </a:xfrm>
          <a:prstGeom prst="rect">
            <a:avLst/>
          </a:prstGeom>
          <a:solidFill>
            <a:srgbClr val="35C6C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C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2477</Words>
  <Application>Microsoft Office PowerPoint</Application>
  <PresentationFormat>Widescreen</PresentationFormat>
  <Paragraphs>329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Vishw Patel</cp:lastModifiedBy>
  <cp:revision>2</cp:revision>
  <dcterms:created xsi:type="dcterms:W3CDTF">2026-08-18T05:29:13Z</dcterms:created>
  <dcterms:modified xsi:type="dcterms:W3CDTF">2026-08-18T06:44:24Z</dcterms:modified>
</cp:coreProperties>
</file>